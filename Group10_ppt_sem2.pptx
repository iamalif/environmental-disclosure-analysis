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6858000" cy="9144000"/>
  <p:embeddedFontLst>
    <p:embeddedFont>
      <p:font typeface="Source Serif Pro" panose="02040603050405020204" pitchFamily="18" charset="0"/>
      <p:regular r:id="rId12"/>
      <p:bold r:id="rId13"/>
      <p:italic r:id="rId14"/>
      <p:boldItalic r:id="rId15"/>
    </p:embeddedFont>
    <p:embeddedFont>
      <p:font typeface="Source Serif Pro Bold" panose="02040803050405020204"/>
      <p:regular r:id="rId16"/>
      <p:bold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492" autoAdjust="0"/>
    <p:restoredTop sz="94623" autoAdjust="0"/>
  </p:normalViewPr>
  <p:slideViewPr>
    <p:cSldViewPr>
      <p:cViewPr varScale="1">
        <p:scale>
          <a:sx n="78" d="100"/>
          <a:sy n="78" d="100"/>
        </p:scale>
        <p:origin x="432" y="1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08208" y="7741284"/>
            <a:ext cx="14193143" cy="23602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699" b="1" dirty="0">
                <a:solidFill>
                  <a:srgbClr val="000000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Course: </a:t>
            </a:r>
            <a:r>
              <a:rPr lang="en-US" sz="2699" dirty="0">
                <a:solidFill>
                  <a:srgbClr val="000000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Data Analysis and </a:t>
            </a:r>
            <a:r>
              <a:rPr lang="en-US" sz="2699" dirty="0" err="1">
                <a:solidFill>
                  <a:srgbClr val="000000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Visualisation</a:t>
            </a:r>
            <a:r>
              <a:rPr lang="en-US" sz="2699" b="1" dirty="0">
                <a:solidFill>
                  <a:srgbClr val="000000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 </a:t>
            </a:r>
          </a:p>
          <a:p>
            <a:pPr algn="l">
              <a:lnSpc>
                <a:spcPts val="3779"/>
              </a:lnSpc>
            </a:pPr>
            <a:r>
              <a:rPr lang="en-US" sz="2699" b="1" dirty="0">
                <a:solidFill>
                  <a:srgbClr val="000000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Date: </a:t>
            </a:r>
            <a:r>
              <a:rPr lang="en-US" sz="2699" dirty="0">
                <a:solidFill>
                  <a:srgbClr val="000000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24.03.2026 </a:t>
            </a:r>
          </a:p>
          <a:p>
            <a:pPr algn="l">
              <a:lnSpc>
                <a:spcPts val="3779"/>
              </a:lnSpc>
            </a:pPr>
            <a:r>
              <a:rPr lang="en-US" sz="2699" b="1" dirty="0">
                <a:solidFill>
                  <a:srgbClr val="000000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Group 10: </a:t>
            </a:r>
            <a:r>
              <a:rPr lang="en-US" sz="2699" dirty="0">
                <a:solidFill>
                  <a:srgbClr val="000000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Aikaterini </a:t>
            </a:r>
            <a:r>
              <a:rPr lang="en-US" sz="2699" dirty="0" err="1">
                <a:solidFill>
                  <a:srgbClr val="000000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Toumpa</a:t>
            </a:r>
            <a:r>
              <a:rPr lang="en-US" sz="2699" dirty="0">
                <a:solidFill>
                  <a:srgbClr val="000000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, Al Amin Alif, Charitha Wickramasinghe, Tharindu Senanayake</a:t>
            </a:r>
          </a:p>
          <a:p>
            <a:pPr algn="l">
              <a:lnSpc>
                <a:spcPts val="3779"/>
              </a:lnSpc>
            </a:pPr>
            <a:r>
              <a:rPr lang="en-US" sz="2699" b="1" dirty="0">
                <a:solidFill>
                  <a:srgbClr val="000000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Instructor: </a:t>
            </a:r>
            <a:r>
              <a:rPr lang="en-US" sz="2699" dirty="0">
                <a:solidFill>
                  <a:srgbClr val="000000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Asif Huq</a:t>
            </a:r>
          </a:p>
          <a:p>
            <a:pPr algn="l">
              <a:lnSpc>
                <a:spcPts val="3779"/>
              </a:lnSpc>
              <a:spcBef>
                <a:spcPct val="0"/>
              </a:spcBef>
            </a:pPr>
            <a:endParaRPr lang="en-US" sz="2699" dirty="0">
              <a:solidFill>
                <a:srgbClr val="000000"/>
              </a:solidFill>
              <a:latin typeface="Source Serif Pro"/>
              <a:ea typeface="Source Serif Pro"/>
              <a:cs typeface="Source Serif Pro"/>
              <a:sym typeface="Source Serif Pro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3747997" y="706215"/>
            <a:ext cx="10792006" cy="12007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299"/>
              </a:lnSpc>
            </a:pPr>
            <a:r>
              <a:rPr lang="en-US" sz="8691">
                <a:solidFill>
                  <a:srgbClr val="000000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Seminar 2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310207" y="3700806"/>
            <a:ext cx="15667587" cy="13487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59"/>
              </a:lnSpc>
              <a:spcBef>
                <a:spcPct val="0"/>
              </a:spcBef>
            </a:pPr>
            <a:r>
              <a:rPr lang="en-US" sz="3899" b="1">
                <a:solidFill>
                  <a:srgbClr val="000000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The Evolution of Environmental Transparency: A Longitudinal Analysis of Symbolic vs. Substantive Disclosure (2002–2016)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4000500" y="-4000500"/>
            <a:ext cx="10287000" cy="18288000"/>
          </a:xfrm>
          <a:custGeom>
            <a:avLst/>
            <a:gdLst/>
            <a:ahLst/>
            <a:cxnLst/>
            <a:rect l="l" t="t" r="r" b="b"/>
            <a:pathLst>
              <a:path w="10287000" h="18288000">
                <a:moveTo>
                  <a:pt x="0" y="18288000"/>
                </a:moveTo>
                <a:lnTo>
                  <a:pt x="0" y="0"/>
                </a:lnTo>
                <a:lnTo>
                  <a:pt x="10287000" y="0"/>
                </a:lnTo>
                <a:lnTo>
                  <a:pt x="10287000" y="18288000"/>
                </a:lnTo>
                <a:lnTo>
                  <a:pt x="0" y="18288000"/>
                </a:lnTo>
                <a:close/>
              </a:path>
            </a:pathLst>
          </a:custGeom>
          <a:blipFill>
            <a:blip r:embed="rId2"/>
            <a:stretch>
              <a:fillRect l="-9222" r="-9222"/>
            </a:stretch>
          </a:blipFill>
        </p:spPr>
        <p:txBody>
          <a:bodyPr/>
          <a:lstStyle/>
          <a:p>
            <a:endParaRPr lang="en-SE"/>
          </a:p>
        </p:txBody>
      </p:sp>
      <p:grpSp>
        <p:nvGrpSpPr>
          <p:cNvPr id="3" name="Group 3"/>
          <p:cNvGrpSpPr/>
          <p:nvPr/>
        </p:nvGrpSpPr>
        <p:grpSpPr>
          <a:xfrm>
            <a:off x="7445393" y="0"/>
            <a:ext cx="11910808" cy="11698111"/>
            <a:chOff x="0" y="0"/>
            <a:chExt cx="1262408" cy="123986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62408" cy="1239865"/>
            </a:xfrm>
            <a:custGeom>
              <a:avLst/>
              <a:gdLst/>
              <a:ahLst/>
              <a:cxnLst/>
              <a:rect l="l" t="t" r="r" b="b"/>
              <a:pathLst>
                <a:path w="1262408" h="1239865">
                  <a:moveTo>
                    <a:pt x="0" y="0"/>
                  </a:moveTo>
                  <a:lnTo>
                    <a:pt x="1262408" y="0"/>
                  </a:lnTo>
                  <a:lnTo>
                    <a:pt x="1262408" y="1239865"/>
                  </a:lnTo>
                  <a:lnTo>
                    <a:pt x="0" y="123986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SE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262408" cy="12779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 rot="5400000">
            <a:off x="8414694" y="1073262"/>
            <a:ext cx="828340" cy="828340"/>
          </a:xfrm>
          <a:custGeom>
            <a:avLst/>
            <a:gdLst/>
            <a:ahLst/>
            <a:cxnLst/>
            <a:rect l="l" t="t" r="r" b="b"/>
            <a:pathLst>
              <a:path w="828340" h="828340">
                <a:moveTo>
                  <a:pt x="0" y="0"/>
                </a:moveTo>
                <a:lnTo>
                  <a:pt x="828340" y="0"/>
                </a:lnTo>
                <a:lnTo>
                  <a:pt x="828340" y="828340"/>
                </a:lnTo>
                <a:lnTo>
                  <a:pt x="0" y="82834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27701" b="-22392"/>
            </a:stretch>
          </a:blipFill>
        </p:spPr>
        <p:txBody>
          <a:bodyPr/>
          <a:lstStyle/>
          <a:p>
            <a:endParaRPr lang="en-SE"/>
          </a:p>
        </p:txBody>
      </p:sp>
      <p:sp>
        <p:nvSpPr>
          <p:cNvPr id="7" name="Freeform 7"/>
          <p:cNvSpPr/>
          <p:nvPr/>
        </p:nvSpPr>
        <p:spPr>
          <a:xfrm rot="5400000">
            <a:off x="8414694" y="2143180"/>
            <a:ext cx="828340" cy="828340"/>
          </a:xfrm>
          <a:custGeom>
            <a:avLst/>
            <a:gdLst/>
            <a:ahLst/>
            <a:cxnLst/>
            <a:rect l="l" t="t" r="r" b="b"/>
            <a:pathLst>
              <a:path w="828340" h="828340">
                <a:moveTo>
                  <a:pt x="0" y="0"/>
                </a:moveTo>
                <a:lnTo>
                  <a:pt x="828340" y="0"/>
                </a:lnTo>
                <a:lnTo>
                  <a:pt x="828340" y="828341"/>
                </a:lnTo>
                <a:lnTo>
                  <a:pt x="0" y="82834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27701" b="-22392"/>
            </a:stretch>
          </a:blipFill>
        </p:spPr>
        <p:txBody>
          <a:bodyPr/>
          <a:lstStyle/>
          <a:p>
            <a:endParaRPr lang="en-SE"/>
          </a:p>
        </p:txBody>
      </p:sp>
      <p:sp>
        <p:nvSpPr>
          <p:cNvPr id="8" name="AutoShape 8"/>
          <p:cNvSpPr/>
          <p:nvPr/>
        </p:nvSpPr>
        <p:spPr>
          <a:xfrm>
            <a:off x="1302355" y="6670357"/>
            <a:ext cx="4335926" cy="0"/>
          </a:xfrm>
          <a:prstGeom prst="line">
            <a:avLst/>
          </a:prstGeom>
          <a:ln w="38100" cap="flat">
            <a:solidFill>
              <a:srgbClr val="345C72">
                <a:alpha val="6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SE"/>
          </a:p>
        </p:txBody>
      </p:sp>
      <p:sp>
        <p:nvSpPr>
          <p:cNvPr id="9" name="Freeform 9"/>
          <p:cNvSpPr/>
          <p:nvPr/>
        </p:nvSpPr>
        <p:spPr>
          <a:xfrm rot="5400000">
            <a:off x="8414694" y="3333471"/>
            <a:ext cx="828340" cy="828340"/>
          </a:xfrm>
          <a:custGeom>
            <a:avLst/>
            <a:gdLst/>
            <a:ahLst/>
            <a:cxnLst/>
            <a:rect l="l" t="t" r="r" b="b"/>
            <a:pathLst>
              <a:path w="828340" h="828340">
                <a:moveTo>
                  <a:pt x="0" y="0"/>
                </a:moveTo>
                <a:lnTo>
                  <a:pt x="828340" y="0"/>
                </a:lnTo>
                <a:lnTo>
                  <a:pt x="828340" y="828340"/>
                </a:lnTo>
                <a:lnTo>
                  <a:pt x="0" y="82834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27701" b="-22392"/>
            </a:stretch>
          </a:blipFill>
        </p:spPr>
        <p:txBody>
          <a:bodyPr/>
          <a:lstStyle/>
          <a:p>
            <a:endParaRPr lang="en-SE"/>
          </a:p>
        </p:txBody>
      </p:sp>
      <p:sp>
        <p:nvSpPr>
          <p:cNvPr id="10" name="Freeform 10"/>
          <p:cNvSpPr/>
          <p:nvPr/>
        </p:nvSpPr>
        <p:spPr>
          <a:xfrm rot="5400000">
            <a:off x="8414694" y="4519311"/>
            <a:ext cx="828340" cy="828340"/>
          </a:xfrm>
          <a:custGeom>
            <a:avLst/>
            <a:gdLst/>
            <a:ahLst/>
            <a:cxnLst/>
            <a:rect l="l" t="t" r="r" b="b"/>
            <a:pathLst>
              <a:path w="828340" h="828340">
                <a:moveTo>
                  <a:pt x="0" y="0"/>
                </a:moveTo>
                <a:lnTo>
                  <a:pt x="828340" y="0"/>
                </a:lnTo>
                <a:lnTo>
                  <a:pt x="828340" y="828340"/>
                </a:lnTo>
                <a:lnTo>
                  <a:pt x="0" y="82834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27701" b="-22392"/>
            </a:stretch>
          </a:blipFill>
        </p:spPr>
        <p:txBody>
          <a:bodyPr/>
          <a:lstStyle/>
          <a:p>
            <a:endParaRPr lang="en-SE"/>
          </a:p>
        </p:txBody>
      </p:sp>
      <p:sp>
        <p:nvSpPr>
          <p:cNvPr id="11" name="TextBox 11"/>
          <p:cNvSpPr txBox="1"/>
          <p:nvPr/>
        </p:nvSpPr>
        <p:spPr>
          <a:xfrm>
            <a:off x="8631908" y="6564311"/>
            <a:ext cx="8917772" cy="396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399" spc="-47">
                <a:solidFill>
                  <a:srgbClr val="000000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             Li</a:t>
            </a:r>
            <a:r>
              <a:rPr lang="en-US" sz="2399" u="none" strike="noStrike" spc="-47">
                <a:solidFill>
                  <a:srgbClr val="000000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mited evidence on how disclosure quality evolves over time</a:t>
            </a:r>
          </a:p>
        </p:txBody>
      </p:sp>
      <p:sp>
        <p:nvSpPr>
          <p:cNvPr id="12" name="AutoShape 12"/>
          <p:cNvSpPr/>
          <p:nvPr/>
        </p:nvSpPr>
        <p:spPr>
          <a:xfrm>
            <a:off x="8625235" y="6772273"/>
            <a:ext cx="588118" cy="0"/>
          </a:xfrm>
          <a:prstGeom prst="line">
            <a:avLst/>
          </a:prstGeom>
          <a:ln w="38100" cap="flat">
            <a:solidFill>
              <a:srgbClr val="345C72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n-SE"/>
          </a:p>
        </p:txBody>
      </p:sp>
      <p:sp>
        <p:nvSpPr>
          <p:cNvPr id="13" name="TextBox 13"/>
          <p:cNvSpPr txBox="1"/>
          <p:nvPr/>
        </p:nvSpPr>
        <p:spPr>
          <a:xfrm>
            <a:off x="8324264" y="2424786"/>
            <a:ext cx="1009199" cy="318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400"/>
              </a:lnSpc>
              <a:spcBef>
                <a:spcPct val="0"/>
              </a:spcBef>
            </a:pPr>
            <a:r>
              <a:rPr lang="en-US" sz="2400" b="1">
                <a:solidFill>
                  <a:srgbClr val="000000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2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640687" y="1035162"/>
            <a:ext cx="8044203" cy="763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079"/>
              </a:lnSpc>
              <a:spcBef>
                <a:spcPct val="0"/>
              </a:spcBef>
            </a:pPr>
            <a:r>
              <a:rPr lang="en-US" sz="2199" spc="-43" dirty="0">
                <a:solidFill>
                  <a:srgbClr val="000000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Env</a:t>
            </a:r>
            <a:r>
              <a:rPr lang="en-US" sz="2199" u="none" strike="noStrike" spc="-43" dirty="0">
                <a:solidFill>
                  <a:srgbClr val="000000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ironmental disclosure is a key part of CSR reporting, but its credibility is debated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640687" y="2105080"/>
            <a:ext cx="7289108" cy="1544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079"/>
              </a:lnSpc>
              <a:spcBef>
                <a:spcPct val="0"/>
              </a:spcBef>
            </a:pPr>
            <a:r>
              <a:rPr lang="en-US" sz="2199" u="none" strike="noStrike" spc="-43" dirty="0">
                <a:solidFill>
                  <a:srgbClr val="000000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Key distinction:</a:t>
            </a:r>
          </a:p>
          <a:p>
            <a:pPr marL="0" lvl="0" indent="0" algn="l">
              <a:lnSpc>
                <a:spcPts val="3079"/>
              </a:lnSpc>
              <a:spcBef>
                <a:spcPct val="0"/>
              </a:spcBef>
            </a:pPr>
            <a:r>
              <a:rPr lang="en-US" sz="2199" u="none" strike="noStrike" spc="-43" dirty="0">
                <a:solidFill>
                  <a:srgbClr val="000000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 – Symbolic disclosure → intentions / commitments</a:t>
            </a:r>
          </a:p>
          <a:p>
            <a:pPr marL="0" lvl="0" indent="0" algn="l">
              <a:lnSpc>
                <a:spcPts val="3079"/>
              </a:lnSpc>
              <a:spcBef>
                <a:spcPct val="0"/>
              </a:spcBef>
            </a:pPr>
            <a:r>
              <a:rPr lang="en-US" sz="2199" u="none" strike="noStrike" spc="-43" dirty="0">
                <a:solidFill>
                  <a:srgbClr val="000000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 – Substantive disclosure → measurable outcomes</a:t>
            </a:r>
          </a:p>
          <a:p>
            <a:pPr marL="0" lvl="0" indent="0" algn="l">
              <a:lnSpc>
                <a:spcPts val="3079"/>
              </a:lnSpc>
              <a:spcBef>
                <a:spcPct val="0"/>
              </a:spcBef>
            </a:pPr>
            <a:endParaRPr lang="en-US" sz="2199" u="none" strike="noStrike" spc="-43" dirty="0">
              <a:solidFill>
                <a:srgbClr val="000000"/>
              </a:solidFill>
              <a:latin typeface="Source Serif Pro"/>
              <a:ea typeface="Source Serif Pro"/>
              <a:cs typeface="Source Serif Pro"/>
              <a:sym typeface="Source Serif Pro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349573" y="4418011"/>
            <a:ext cx="6830717" cy="9296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600"/>
              </a:lnSpc>
              <a:spcBef>
                <a:spcPct val="0"/>
              </a:spcBef>
            </a:pPr>
            <a:r>
              <a:rPr lang="en-US" sz="3600">
                <a:solidFill>
                  <a:srgbClr val="000000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Int</a:t>
            </a:r>
            <a:r>
              <a:rPr lang="en-US" sz="3600" u="none" strike="noStrike">
                <a:solidFill>
                  <a:srgbClr val="000000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roduction &amp; Research Focus</a:t>
            </a:r>
          </a:p>
          <a:p>
            <a:pPr marL="0" lvl="0" indent="0" algn="just">
              <a:lnSpc>
                <a:spcPts val="3600"/>
              </a:lnSpc>
              <a:spcBef>
                <a:spcPct val="0"/>
              </a:spcBef>
            </a:pPr>
            <a:endParaRPr lang="en-US" sz="3600" u="none" strike="noStrike">
              <a:solidFill>
                <a:srgbClr val="000000"/>
              </a:solidFill>
              <a:latin typeface="Source Serif Pro"/>
              <a:ea typeface="Source Serif Pro"/>
              <a:cs typeface="Source Serif Pro"/>
              <a:sym typeface="Source Serif Pro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8414694" y="317183"/>
            <a:ext cx="3044064" cy="397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799" b="1" dirty="0">
                <a:solidFill>
                  <a:srgbClr val="000000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The Background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324264" y="1352177"/>
            <a:ext cx="1009199" cy="318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400"/>
              </a:lnSpc>
              <a:spcBef>
                <a:spcPct val="0"/>
              </a:spcBef>
            </a:pPr>
            <a:r>
              <a:rPr lang="en-US" sz="2400" b="1">
                <a:solidFill>
                  <a:srgbClr val="000000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1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324264" y="3612386"/>
            <a:ext cx="1009199" cy="318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400"/>
              </a:lnSpc>
              <a:spcBef>
                <a:spcPct val="0"/>
              </a:spcBef>
            </a:pPr>
            <a:r>
              <a:rPr lang="en-US" sz="2400" b="1">
                <a:solidFill>
                  <a:srgbClr val="000000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3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640687" y="3558728"/>
            <a:ext cx="7289108" cy="372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079"/>
              </a:lnSpc>
              <a:spcBef>
                <a:spcPct val="0"/>
              </a:spcBef>
            </a:pPr>
            <a:r>
              <a:rPr lang="en-US" sz="2199" u="none" strike="noStrike" spc="-43">
                <a:solidFill>
                  <a:srgbClr val="000000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Firms may use reporting strategically (greenwashing)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324264" y="4825365"/>
            <a:ext cx="1009199" cy="318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400"/>
              </a:lnSpc>
              <a:spcBef>
                <a:spcPct val="0"/>
              </a:spcBef>
            </a:pPr>
            <a:r>
              <a:rPr lang="en-US" sz="2400" b="1">
                <a:solidFill>
                  <a:srgbClr val="000000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4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640687" y="4481211"/>
            <a:ext cx="8044203" cy="763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079"/>
              </a:lnSpc>
              <a:spcBef>
                <a:spcPct val="0"/>
              </a:spcBef>
            </a:pPr>
            <a:r>
              <a:rPr lang="en-US" sz="2199" spc="-43">
                <a:solidFill>
                  <a:srgbClr val="000000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GRI f</a:t>
            </a:r>
            <a:r>
              <a:rPr lang="en-US" sz="2199" u="none" strike="noStrike" spc="-43">
                <a:solidFill>
                  <a:srgbClr val="000000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rameworks (G3, G4) improved structure, but impact on quality is unclear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513595" y="5966776"/>
            <a:ext cx="7592648" cy="397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799" b="1">
                <a:solidFill>
                  <a:srgbClr val="000000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Research Gap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513595" y="7637461"/>
            <a:ext cx="7592648" cy="397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799" b="1">
                <a:solidFill>
                  <a:srgbClr val="000000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Research Questions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513595" y="8444546"/>
            <a:ext cx="9774405" cy="13354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40"/>
              </a:lnSpc>
              <a:spcBef>
                <a:spcPct val="0"/>
              </a:spcBef>
            </a:pPr>
            <a:r>
              <a:rPr lang="en-US" sz="2400" b="1">
                <a:solidFill>
                  <a:srgbClr val="000000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Main RQ: </a:t>
            </a:r>
            <a:r>
              <a:rPr lang="en-US" sz="2400">
                <a:solidFill>
                  <a:srgbClr val="000000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How has environmental disclosure evolved (2002–2016)?</a:t>
            </a:r>
          </a:p>
          <a:p>
            <a:pPr algn="l">
              <a:lnSpc>
                <a:spcPts val="2640"/>
              </a:lnSpc>
              <a:spcBef>
                <a:spcPct val="0"/>
              </a:spcBef>
            </a:pPr>
            <a:r>
              <a:rPr lang="en-US" sz="2400" b="1">
                <a:solidFill>
                  <a:srgbClr val="000000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Sub-Q 1:</a:t>
            </a:r>
            <a:r>
              <a:rPr lang="en-US" sz="2400">
                <a:solidFill>
                  <a:srgbClr val="000000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 Has the balance between symbolic and substantive changed?</a:t>
            </a:r>
          </a:p>
          <a:p>
            <a:pPr algn="l">
              <a:lnSpc>
                <a:spcPts val="2640"/>
              </a:lnSpc>
              <a:spcBef>
                <a:spcPct val="0"/>
              </a:spcBef>
            </a:pPr>
            <a:r>
              <a:rPr lang="en-US" sz="2400" b="1">
                <a:solidFill>
                  <a:srgbClr val="000000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Sub-Q 2:</a:t>
            </a:r>
            <a:r>
              <a:rPr lang="en-US" sz="2400">
                <a:solidFill>
                  <a:srgbClr val="000000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 Did GRI frameworks improve reporting quality?</a:t>
            </a:r>
          </a:p>
          <a:p>
            <a:pPr algn="l">
              <a:lnSpc>
                <a:spcPts val="2640"/>
              </a:lnSpc>
              <a:spcBef>
                <a:spcPct val="0"/>
              </a:spcBef>
            </a:pPr>
            <a:endParaRPr lang="en-US" sz="2400">
              <a:solidFill>
                <a:srgbClr val="000000"/>
              </a:solidFill>
              <a:latin typeface="Source Serif Pro"/>
              <a:ea typeface="Source Serif Pro"/>
              <a:cs typeface="Source Serif Pro"/>
              <a:sym typeface="Source Serif Pr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6974457" y="445822"/>
            <a:ext cx="4339084" cy="4231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210"/>
              </a:lnSpc>
              <a:spcBef>
                <a:spcPct val="0"/>
              </a:spcBef>
            </a:pPr>
            <a:r>
              <a:rPr lang="en-US" sz="3000" b="1" dirty="0">
                <a:solidFill>
                  <a:srgbClr val="000000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Keyword Lexicon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BF48953-6CFB-46C1-36D4-E4A4DA5D5E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749916"/>
              </p:ext>
            </p:extLst>
          </p:nvPr>
        </p:nvGraphicFramePr>
        <p:xfrm>
          <a:off x="685799" y="1257300"/>
          <a:ext cx="16916401" cy="8372281"/>
        </p:xfrm>
        <a:graphic>
          <a:graphicData uri="http://schemas.openxmlformats.org/drawingml/2006/table">
            <a:tbl>
              <a:tblPr/>
              <a:tblGrid>
                <a:gridCol w="4572001">
                  <a:extLst>
                    <a:ext uri="{9D8B030D-6E8A-4147-A177-3AD203B41FA5}">
                      <a16:colId xmlns:a16="http://schemas.microsoft.com/office/drawing/2014/main" val="1450926822"/>
                    </a:ext>
                  </a:extLst>
                </a:gridCol>
                <a:gridCol w="6383866">
                  <a:extLst>
                    <a:ext uri="{9D8B030D-6E8A-4147-A177-3AD203B41FA5}">
                      <a16:colId xmlns:a16="http://schemas.microsoft.com/office/drawing/2014/main" val="2740672295"/>
                    </a:ext>
                  </a:extLst>
                </a:gridCol>
                <a:gridCol w="5960534">
                  <a:extLst>
                    <a:ext uri="{9D8B030D-6E8A-4147-A177-3AD203B41FA5}">
                      <a16:colId xmlns:a16="http://schemas.microsoft.com/office/drawing/2014/main" val="2430175115"/>
                    </a:ext>
                  </a:extLst>
                </a:gridCol>
              </a:tblGrid>
              <a:tr h="766954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GB" sz="2400" b="1" i="0" dirty="0">
                          <a:effectLst/>
                          <a:latin typeface="Source Serif Pro" panose="02040603050405020204" pitchFamily="18" charset="0"/>
                          <a:ea typeface="Source Serif Pro" panose="02040603050405020204" pitchFamily="18" charset="0"/>
                        </a:rPr>
                        <a:t>Dictionary Type</a:t>
                      </a:r>
                    </a:p>
                  </a:txBody>
                  <a:tcPr marL="42743" marR="42743" marT="28495" marB="284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GB" sz="2400" b="1" i="0" dirty="0">
                          <a:effectLst/>
                          <a:latin typeface="Source Serif Pro" panose="02040603050405020204" pitchFamily="18" charset="0"/>
                          <a:ea typeface="Source Serif Pro" panose="02040603050405020204" pitchFamily="18" charset="0"/>
                        </a:rPr>
                        <a:t>Function</a:t>
                      </a:r>
                    </a:p>
                  </a:txBody>
                  <a:tcPr marL="42743" marR="42743" marT="28495" marB="284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GB" sz="2400" b="1" i="0" dirty="0">
                          <a:effectLst/>
                          <a:latin typeface="Source Serif Pro" panose="02040603050405020204" pitchFamily="18" charset="0"/>
                          <a:ea typeface="Source Serif Pro" panose="02040603050405020204" pitchFamily="18" charset="0"/>
                        </a:rPr>
                        <a:t>Example Terms</a:t>
                      </a:r>
                    </a:p>
                  </a:txBody>
                  <a:tcPr marL="42743" marR="42743" marT="28495" marB="284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7847938"/>
                  </a:ext>
                </a:extLst>
              </a:tr>
              <a:tr h="1926303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GB" sz="1900" b="0" i="0" dirty="0">
                          <a:effectLst/>
                          <a:latin typeface="Source Serif Pro" panose="02040603050405020204" pitchFamily="18" charset="0"/>
                          <a:ea typeface="Source Serif Pro" panose="02040603050405020204" pitchFamily="18" charset="0"/>
                        </a:rPr>
                        <a:t>ENVIRONMENTAL KEYWORDS</a:t>
                      </a:r>
                    </a:p>
                  </a:txBody>
                  <a:tcPr marL="42743" marR="42743" marT="28495" marB="284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GB" sz="1900" b="0" i="0" dirty="0">
                          <a:effectLst/>
                          <a:latin typeface="Source Serif Pro" panose="02040603050405020204" pitchFamily="18" charset="0"/>
                          <a:ea typeface="Source Serif Pro" panose="02040603050405020204" pitchFamily="18" charset="0"/>
                        </a:rPr>
                        <a:t>Sentence must contain at least one to be analysed.</a:t>
                      </a:r>
                    </a:p>
                  </a:txBody>
                  <a:tcPr marL="42743" marR="42743" marT="28495" marB="284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GB" sz="1900" b="0" i="0" dirty="0">
                          <a:effectLst/>
                          <a:latin typeface="Source Serif Pro" panose="02040603050405020204" pitchFamily="18" charset="0"/>
                          <a:ea typeface="Source Serif Pro" panose="02040603050405020204" pitchFamily="18" charset="0"/>
                        </a:rPr>
                        <a:t>emissions, carbon, climate change, energy consumption, renewable energy, solar, water use, scarcity, landfill, recycling rate, hazardous waste, biodiversity, ecosystem, air quality, pollutants, iso 14001, sustainability report</a:t>
                      </a:r>
                    </a:p>
                  </a:txBody>
                  <a:tcPr marL="42743" marR="42743" marT="28495" marB="284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9877349"/>
                  </a:ext>
                </a:extLst>
              </a:tr>
              <a:tr h="1284201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GB" sz="1900" b="0" i="0">
                          <a:effectLst/>
                          <a:latin typeface="Source Serif Pro" panose="02040603050405020204" pitchFamily="18" charset="0"/>
                          <a:ea typeface="Source Serif Pro" panose="02040603050405020204" pitchFamily="18" charset="0"/>
                        </a:rPr>
                        <a:t>WORD TYPE 1</a:t>
                      </a:r>
                    </a:p>
                  </a:txBody>
                  <a:tcPr marL="42743" marR="42743" marT="28495" marB="284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GB" sz="1900" b="0" i="0" dirty="0">
                          <a:effectLst/>
                          <a:latin typeface="Source Serif Pro" panose="02040603050405020204" pitchFamily="18" charset="0"/>
                          <a:ea typeface="Source Serif Pro" panose="02040603050405020204" pitchFamily="18" charset="0"/>
                        </a:rPr>
                        <a:t>Detects a directional action or change related to the environment.</a:t>
                      </a:r>
                    </a:p>
                  </a:txBody>
                  <a:tcPr marL="42743" marR="42743" marT="28495" marB="284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GB" sz="1900" b="0" i="0" dirty="0">
                          <a:effectLst/>
                          <a:latin typeface="Source Serif Pro" panose="02040603050405020204" pitchFamily="18" charset="0"/>
                          <a:ea typeface="Source Serif Pro" panose="02040603050405020204" pitchFamily="18" charset="0"/>
                        </a:rPr>
                        <a:t>reduced, decreased, lowered, cut, improved, increased, eliminated, deployed, installed, transitioned</a:t>
                      </a:r>
                    </a:p>
                  </a:txBody>
                  <a:tcPr marL="42743" marR="42743" marT="28495" marB="284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8005705"/>
                  </a:ext>
                </a:extLst>
              </a:tr>
              <a:tr h="1555311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GB" sz="1900" b="0" i="0" dirty="0">
                          <a:effectLst/>
                          <a:latin typeface="Source Serif Pro" panose="02040603050405020204" pitchFamily="18" charset="0"/>
                          <a:ea typeface="Source Serif Pro" panose="02040603050405020204" pitchFamily="18" charset="0"/>
                        </a:rPr>
                        <a:t>WORD TYPE 2</a:t>
                      </a:r>
                    </a:p>
                  </a:txBody>
                  <a:tcPr marL="42743" marR="42743" marT="28495" marB="284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GB" sz="1900" b="0" i="0" dirty="0">
                          <a:effectLst/>
                          <a:latin typeface="Source Serif Pro" panose="02040603050405020204" pitchFamily="18" charset="0"/>
                          <a:ea typeface="Source Serif Pro" panose="02040603050405020204" pitchFamily="18" charset="0"/>
                        </a:rPr>
                        <a:t>Confirms the action is a completed result, not just a plan.</a:t>
                      </a:r>
                    </a:p>
                  </a:txBody>
                  <a:tcPr marL="42743" marR="42743" marT="28495" marB="284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GB" sz="1900" b="0" i="0" dirty="0">
                          <a:effectLst/>
                          <a:latin typeface="Source Serif Pro" panose="02040603050405020204" pitchFamily="18" charset="0"/>
                          <a:ea typeface="Source Serif Pro" panose="02040603050405020204" pitchFamily="18" charset="0"/>
                        </a:rPr>
                        <a:t>achieved, resulted, met, verified, confirmed, exceeded, delivered, demonstrated, recorded, on track</a:t>
                      </a:r>
                      <a:br>
                        <a:rPr lang="en-GB" sz="1900" b="0" i="0" dirty="0">
                          <a:effectLst/>
                          <a:latin typeface="Source Serif Pro" panose="02040603050405020204" pitchFamily="18" charset="0"/>
                          <a:ea typeface="Source Serif Pro" panose="02040603050405020204" pitchFamily="18" charset="0"/>
                        </a:rPr>
                      </a:br>
                      <a:endParaRPr lang="en-GB" sz="1900" b="0" i="0" dirty="0">
                        <a:effectLst/>
                        <a:latin typeface="Source Serif Pro" panose="02040603050405020204" pitchFamily="18" charset="0"/>
                        <a:ea typeface="Source Serif Pro" panose="02040603050405020204" pitchFamily="18" charset="0"/>
                      </a:endParaRPr>
                    </a:p>
                  </a:txBody>
                  <a:tcPr marL="42743" marR="42743" marT="28495" marB="284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8612880"/>
                  </a:ext>
                </a:extLst>
              </a:tr>
              <a:tr h="1555311"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buNone/>
                      </a:pPr>
                      <a:r>
                        <a:rPr lang="en-GB" sz="1900" b="0" i="0" kern="1200" dirty="0">
                          <a:solidFill>
                            <a:schemeClr val="tx1"/>
                          </a:solidFill>
                          <a:effectLst/>
                          <a:latin typeface="Source Serif Pro" panose="02040603050405020204" pitchFamily="18" charset="0"/>
                          <a:ea typeface="Source Serif Pro" panose="02040603050405020204" pitchFamily="18" charset="0"/>
                          <a:cs typeface="+mn-cs"/>
                        </a:rPr>
                        <a:t>PAST PARTICIPLE </a:t>
                      </a:r>
                    </a:p>
                  </a:txBody>
                  <a:tcPr marL="42743" marR="42743" marT="28495" marB="284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buNone/>
                      </a:pPr>
                      <a:r>
                        <a:rPr lang="en-GB" sz="1900" b="0" i="0" kern="1200" dirty="0">
                          <a:solidFill>
                            <a:schemeClr val="tx1"/>
                          </a:solidFill>
                          <a:effectLst/>
                          <a:latin typeface="Source Serif Pro" panose="02040603050405020204" pitchFamily="18" charset="0"/>
                          <a:ea typeface="Source Serif Pro" panose="02040603050405020204" pitchFamily="18" charset="0"/>
                          <a:cs typeface="+mn-cs"/>
                        </a:rPr>
                        <a:t>Catches completed actions where grammar alone confirms the result, even without a Type_2 word present.</a:t>
                      </a:r>
                    </a:p>
                  </a:txBody>
                  <a:tcPr marL="42743" marR="42743" marT="28495" marB="284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GB" sz="1900" b="0" i="0" kern="1200" dirty="0">
                          <a:solidFill>
                            <a:schemeClr val="tx1"/>
                          </a:solidFill>
                          <a:effectLst/>
                          <a:latin typeface="Source Serif Pro" panose="02040603050405020204" pitchFamily="18" charset="0"/>
                          <a:ea typeface="Source Serif Pro" panose="02040603050405020204" pitchFamily="18" charset="0"/>
                          <a:cs typeface="+mn-cs"/>
                        </a:rPr>
                        <a:t>deployed, installed, retrofitted, upgraded, lowered, dropped, declined, improved, increased, offset</a:t>
                      </a:r>
                    </a:p>
                  </a:txBody>
                  <a:tcPr marL="42743" marR="42743" marT="28495" marB="284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4922835"/>
                  </a:ext>
                </a:extLst>
              </a:tr>
              <a:tr h="1284201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GB" sz="1900" b="0" i="0" dirty="0">
                          <a:effectLst/>
                          <a:latin typeface="Source Serif Pro" panose="02040603050405020204" pitchFamily="18" charset="0"/>
                          <a:ea typeface="Source Serif Pro" panose="02040603050405020204" pitchFamily="18" charset="0"/>
                        </a:rPr>
                        <a:t>SYMBOLIC WORDS</a:t>
                      </a:r>
                    </a:p>
                  </a:txBody>
                  <a:tcPr marL="42743" marR="42743" marT="28495" marB="284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GB" sz="1900" b="0" i="0" dirty="0">
                          <a:effectLst/>
                          <a:latin typeface="Source Serif Pro" panose="02040603050405020204" pitchFamily="18" charset="0"/>
                          <a:ea typeface="Source Serif Pro" panose="02040603050405020204" pitchFamily="18" charset="0"/>
                        </a:rPr>
                        <a:t>Identifies future intentions or commitments without confirmed outcomes.</a:t>
                      </a:r>
                    </a:p>
                  </a:txBody>
                  <a:tcPr marL="42743" marR="42743" marT="28495" marB="284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GB" sz="1900" b="0" i="0" dirty="0">
                          <a:effectLst/>
                          <a:latin typeface="Source Serif Pro" panose="02040603050405020204" pitchFamily="18" charset="0"/>
                          <a:ea typeface="Source Serif Pro" panose="02040603050405020204" pitchFamily="18" charset="0"/>
                        </a:rPr>
                        <a:t>committed, aims to, plan to, will reduce, intends to, working towards, ambition, roadmap, pledge, striving to</a:t>
                      </a:r>
                    </a:p>
                  </a:txBody>
                  <a:tcPr marL="42743" marR="42743" marT="28495" marB="284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341627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38833" y="1568850"/>
            <a:ext cx="17084106" cy="7047194"/>
          </a:xfrm>
          <a:custGeom>
            <a:avLst/>
            <a:gdLst/>
            <a:ahLst/>
            <a:cxnLst/>
            <a:rect l="l" t="t" r="r" b="b"/>
            <a:pathLst>
              <a:path w="17084106" h="7047194">
                <a:moveTo>
                  <a:pt x="0" y="0"/>
                </a:moveTo>
                <a:lnTo>
                  <a:pt x="17084106" y="0"/>
                </a:lnTo>
                <a:lnTo>
                  <a:pt x="17084106" y="7047194"/>
                </a:lnTo>
                <a:lnTo>
                  <a:pt x="0" y="70471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SE"/>
          </a:p>
        </p:txBody>
      </p:sp>
      <p:sp>
        <p:nvSpPr>
          <p:cNvPr id="3" name="TextBox 3"/>
          <p:cNvSpPr txBox="1"/>
          <p:nvPr/>
        </p:nvSpPr>
        <p:spPr>
          <a:xfrm>
            <a:off x="6908286" y="516049"/>
            <a:ext cx="4345200" cy="421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10"/>
              </a:lnSpc>
              <a:spcBef>
                <a:spcPct val="0"/>
              </a:spcBef>
            </a:pPr>
            <a:r>
              <a:rPr lang="en-US" sz="3000" b="1" dirty="0">
                <a:solidFill>
                  <a:srgbClr val="000000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Methodology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235046" y="9076672"/>
            <a:ext cx="15817908" cy="958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499"/>
              </a:lnSpc>
              <a:spcBef>
                <a:spcPct val="0"/>
              </a:spcBef>
            </a:pPr>
            <a:r>
              <a:rPr lang="en-US" sz="2499" dirty="0">
                <a:solidFill>
                  <a:srgbClr val="000000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Dictionary-based approach chosen for </a:t>
            </a:r>
            <a:r>
              <a:rPr lang="en-US" sz="2499" b="1" dirty="0">
                <a:solidFill>
                  <a:srgbClr val="000000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transparency </a:t>
            </a:r>
            <a:r>
              <a:rPr lang="en-US" sz="2499" dirty="0">
                <a:solidFill>
                  <a:srgbClr val="000000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and </a:t>
            </a:r>
            <a:r>
              <a:rPr lang="en-US" sz="2499" b="1" dirty="0">
                <a:solidFill>
                  <a:srgbClr val="000000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interpretability </a:t>
            </a:r>
          </a:p>
          <a:p>
            <a:pPr algn="just">
              <a:lnSpc>
                <a:spcPts val="2499"/>
              </a:lnSpc>
              <a:spcBef>
                <a:spcPct val="0"/>
              </a:spcBef>
            </a:pPr>
            <a:r>
              <a:rPr lang="en-US" sz="2499" dirty="0">
                <a:solidFill>
                  <a:srgbClr val="000000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 </a:t>
            </a:r>
          </a:p>
          <a:p>
            <a:pPr algn="just">
              <a:lnSpc>
                <a:spcPts val="2499"/>
              </a:lnSpc>
              <a:spcBef>
                <a:spcPct val="0"/>
              </a:spcBef>
            </a:pPr>
            <a:r>
              <a:rPr lang="en-US" sz="2499" dirty="0">
                <a:solidFill>
                  <a:srgbClr val="000000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Directly </a:t>
            </a:r>
            <a:r>
              <a:rPr lang="en-US" sz="2499" b="1" dirty="0">
                <a:solidFill>
                  <a:srgbClr val="000000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operationalizes </a:t>
            </a:r>
            <a:r>
              <a:rPr lang="en-US" sz="2499" dirty="0">
                <a:solidFill>
                  <a:srgbClr val="000000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symbolic vs. substantive disclosure and </a:t>
            </a:r>
            <a:r>
              <a:rPr lang="en-US" sz="2499" b="1" dirty="0">
                <a:solidFill>
                  <a:srgbClr val="000000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enables comparison</a:t>
            </a:r>
            <a:r>
              <a:rPr lang="en-US" sz="2499" dirty="0">
                <a:solidFill>
                  <a:srgbClr val="000000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 over time</a:t>
            </a:r>
          </a:p>
        </p:txBody>
      </p:sp>
      <p:sp>
        <p:nvSpPr>
          <p:cNvPr id="5" name="AutoShape 5"/>
          <p:cNvSpPr/>
          <p:nvPr/>
        </p:nvSpPr>
        <p:spPr>
          <a:xfrm>
            <a:off x="307888" y="9239250"/>
            <a:ext cx="588118" cy="0"/>
          </a:xfrm>
          <a:prstGeom prst="line">
            <a:avLst/>
          </a:prstGeom>
          <a:ln w="38100" cap="flat">
            <a:solidFill>
              <a:srgbClr val="345C72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n-SE"/>
          </a:p>
        </p:txBody>
      </p:sp>
      <p:sp>
        <p:nvSpPr>
          <p:cNvPr id="6" name="AutoShape 6"/>
          <p:cNvSpPr/>
          <p:nvPr/>
        </p:nvSpPr>
        <p:spPr>
          <a:xfrm>
            <a:off x="307888" y="9829800"/>
            <a:ext cx="588118" cy="0"/>
          </a:xfrm>
          <a:prstGeom prst="line">
            <a:avLst/>
          </a:prstGeom>
          <a:ln w="38100" cap="flat">
            <a:solidFill>
              <a:srgbClr val="345C72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n-SE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3">
            <a:extLst>
              <a:ext uri="{FF2B5EF4-FFF2-40B4-BE49-F238E27FC236}">
                <a16:creationId xmlns:a16="http://schemas.microsoft.com/office/drawing/2014/main" id="{0110FFA7-3123-06A7-082A-1007EF4726CE}"/>
              </a:ext>
            </a:extLst>
          </p:cNvPr>
          <p:cNvSpPr txBox="1"/>
          <p:nvPr/>
        </p:nvSpPr>
        <p:spPr>
          <a:xfrm>
            <a:off x="6971400" y="571500"/>
            <a:ext cx="4345200" cy="4231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algn="ctr">
              <a:lnSpc>
                <a:spcPts val="3210"/>
              </a:lnSpc>
              <a:spcBef>
                <a:spcPct val="0"/>
              </a:spcBef>
              <a:defRPr sz="3000" b="1">
                <a:solidFill>
                  <a:srgbClr val="000000"/>
                </a:solidFill>
                <a:latin typeface="Source Serif Pro Bold"/>
                <a:ea typeface="Source Serif Pro Bold"/>
                <a:cs typeface="Source Serif Pro Bold"/>
              </a:defRPr>
            </a:lvl1pPr>
          </a:lstStyle>
          <a:p>
            <a:r>
              <a:rPr lang="en-GB" dirty="0"/>
              <a:t>Sample Selection Table</a:t>
            </a:r>
            <a:endParaRPr lang="en-US" dirty="0">
              <a:sym typeface="Source Serif Pro Bold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6A7E0A1-DC57-A52B-7310-10762EE154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4713643"/>
              </p:ext>
            </p:extLst>
          </p:nvPr>
        </p:nvGraphicFramePr>
        <p:xfrm>
          <a:off x="2152650" y="1761581"/>
          <a:ext cx="13982700" cy="6763838"/>
        </p:xfrm>
        <a:graphic>
          <a:graphicData uri="http://schemas.openxmlformats.org/drawingml/2006/table">
            <a:tbl>
              <a:tblPr/>
              <a:tblGrid>
                <a:gridCol w="5091966">
                  <a:extLst>
                    <a:ext uri="{9D8B030D-6E8A-4147-A177-3AD203B41FA5}">
                      <a16:colId xmlns:a16="http://schemas.microsoft.com/office/drawing/2014/main" val="3966432167"/>
                    </a:ext>
                  </a:extLst>
                </a:gridCol>
                <a:gridCol w="5023584">
                  <a:extLst>
                    <a:ext uri="{9D8B030D-6E8A-4147-A177-3AD203B41FA5}">
                      <a16:colId xmlns:a16="http://schemas.microsoft.com/office/drawing/2014/main" val="2558541715"/>
                    </a:ext>
                  </a:extLst>
                </a:gridCol>
                <a:gridCol w="3867150">
                  <a:extLst>
                    <a:ext uri="{9D8B030D-6E8A-4147-A177-3AD203B41FA5}">
                      <a16:colId xmlns:a16="http://schemas.microsoft.com/office/drawing/2014/main" val="3879496541"/>
                    </a:ext>
                  </a:extLst>
                </a:gridCol>
              </a:tblGrid>
              <a:tr h="82086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GB" sz="2400" b="1" i="0" dirty="0">
                          <a:effectLst/>
                          <a:latin typeface="Source Serif Pro" panose="02040603050405020204" pitchFamily="18" charset="0"/>
                          <a:ea typeface="Source Serif Pro" panose="02040603050405020204" pitchFamily="18" charset="0"/>
                        </a:rPr>
                        <a:t>Step</a:t>
                      </a:r>
                    </a:p>
                  </a:txBody>
                  <a:tcPr marL="42743" marR="42743" marT="28495" marB="284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GB" sz="2400" b="1" i="0" dirty="0">
                          <a:effectLst/>
                          <a:latin typeface="Source Serif Pro" panose="02040603050405020204" pitchFamily="18" charset="0"/>
                          <a:ea typeface="Source Serif Pro" panose="02040603050405020204" pitchFamily="18" charset="0"/>
                        </a:rPr>
                        <a:t>Description</a:t>
                      </a:r>
                    </a:p>
                  </a:txBody>
                  <a:tcPr marL="42743" marR="42743" marT="28495" marB="284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GB" sz="2400" b="1" i="0" dirty="0">
                          <a:effectLst/>
                          <a:latin typeface="Source Serif Pro" panose="02040603050405020204" pitchFamily="18" charset="0"/>
                          <a:ea typeface="Source Serif Pro" panose="02040603050405020204" pitchFamily="18" charset="0"/>
                        </a:rPr>
                        <a:t>Reports </a:t>
                      </a:r>
                      <a:r>
                        <a:rPr lang="en-GB" sz="2400" b="1" i="0" kern="1200" dirty="0">
                          <a:solidFill>
                            <a:schemeClr val="tx1"/>
                          </a:solidFill>
                          <a:effectLst/>
                          <a:latin typeface="Source Serif Pro" panose="02040603050405020204" pitchFamily="18" charset="0"/>
                          <a:ea typeface="Source Serif Pro" panose="02040603050405020204" pitchFamily="18" charset="0"/>
                          <a:cs typeface="+mn-cs"/>
                        </a:rPr>
                        <a:t>Remaining</a:t>
                      </a:r>
                    </a:p>
                  </a:txBody>
                  <a:tcPr marL="42743" marR="42743" marT="28495" marB="284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5333600"/>
                  </a:ext>
                </a:extLst>
              </a:tr>
              <a:tr h="14589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400" dirty="0">
                          <a:effectLst/>
                          <a:latin typeface="Source Serif Pro" panose="02040603050405020204" pitchFamily="18" charset="0"/>
                          <a:ea typeface="Source Serif Pro" panose="02040603050405020204" pitchFamily="18" charset="0"/>
                        </a:rPr>
                        <a:t>Starting population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GB" sz="2400" b="0" i="0" dirty="0">
                          <a:effectLst/>
                          <a:latin typeface="Source Serif Pro" panose="02040603050405020204" pitchFamily="18" charset="0"/>
                          <a:ea typeface="Source Serif Pro" panose="02040603050405020204" pitchFamily="18" charset="0"/>
                        </a:rPr>
                        <a:t>GRI database reports 2002–2016</a:t>
                      </a:r>
                    </a:p>
                  </a:txBody>
                  <a:tcPr marL="42743" marR="42743" marT="28495" marB="284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GB" sz="2400" b="0" i="0" dirty="0">
                          <a:effectLst/>
                          <a:latin typeface="Source Serif Pro" panose="02040603050405020204" pitchFamily="18" charset="0"/>
                          <a:ea typeface="Source Serif Pro" panose="02040603050405020204" pitchFamily="18" charset="0"/>
                        </a:rPr>
                        <a:t>5789</a:t>
                      </a:r>
                    </a:p>
                  </a:txBody>
                  <a:tcPr marL="42743" marR="42743" marT="28495" marB="284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7214544"/>
                  </a:ext>
                </a:extLst>
              </a:tr>
              <a:tr h="121920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GB" sz="2400" b="0" i="0">
                          <a:effectLst/>
                          <a:latin typeface="Source Serif Pro" panose="02040603050405020204" pitchFamily="18" charset="0"/>
                          <a:ea typeface="Source Serif Pro" panose="02040603050405020204" pitchFamily="18" charset="0"/>
                        </a:rPr>
                        <a:t>After language filter</a:t>
                      </a:r>
                      <a:endParaRPr lang="en-GB" sz="2400" b="0" i="0" dirty="0">
                        <a:effectLst/>
                        <a:latin typeface="Source Serif Pro" panose="02040603050405020204" pitchFamily="18" charset="0"/>
                        <a:ea typeface="Source Serif Pro" panose="02040603050405020204" pitchFamily="18" charset="0"/>
                      </a:endParaRPr>
                    </a:p>
                  </a:txBody>
                  <a:tcPr marL="42743" marR="42743" marT="28495" marB="284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GB" sz="2400" b="0" i="0" dirty="0">
                          <a:effectLst/>
                          <a:latin typeface="Source Serif Pro" panose="02040603050405020204" pitchFamily="18" charset="0"/>
                          <a:ea typeface="Source Serif Pro" panose="02040603050405020204" pitchFamily="18" charset="0"/>
                        </a:rPr>
                        <a:t>English only</a:t>
                      </a:r>
                    </a:p>
                  </a:txBody>
                  <a:tcPr marL="42743" marR="42743" marT="28495" marB="284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GB" sz="2400" b="0" i="0" dirty="0">
                          <a:effectLst/>
                          <a:latin typeface="Source Serif Pro" panose="02040603050405020204" pitchFamily="18" charset="0"/>
                          <a:ea typeface="Source Serif Pro" panose="02040603050405020204" pitchFamily="18" charset="0"/>
                        </a:rPr>
                        <a:t>1632</a:t>
                      </a:r>
                    </a:p>
                  </a:txBody>
                  <a:tcPr marL="42743" marR="42743" marT="28495" marB="284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7500735"/>
                  </a:ext>
                </a:extLst>
              </a:tr>
              <a:tr h="160020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GB" sz="2400" b="0" i="0" dirty="0">
                          <a:effectLst/>
                          <a:latin typeface="Source Serif Pro" panose="02040603050405020204" pitchFamily="18" charset="0"/>
                          <a:ea typeface="Source Serif Pro" panose="02040603050405020204" pitchFamily="18" charset="0"/>
                        </a:rPr>
                        <a:t>After minimum sentence filter</a:t>
                      </a:r>
                    </a:p>
                  </a:txBody>
                  <a:tcPr marL="42743" marR="42743" marT="28495" marB="284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GB" sz="2400" b="0" i="0" dirty="0">
                          <a:effectLst/>
                          <a:latin typeface="Source Serif Pro" panose="02040603050405020204" pitchFamily="18" charset="0"/>
                          <a:ea typeface="Source Serif Pro" panose="02040603050405020204" pitchFamily="18" charset="0"/>
                        </a:rPr>
                        <a:t>At least 10 sentences</a:t>
                      </a:r>
                    </a:p>
                  </a:txBody>
                  <a:tcPr marL="42743" marR="42743" marT="28495" marB="284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GB" sz="2400" b="0" i="0" dirty="0">
                          <a:effectLst/>
                          <a:latin typeface="Source Serif Pro" panose="02040603050405020204" pitchFamily="18" charset="0"/>
                          <a:ea typeface="Source Serif Pro" panose="02040603050405020204" pitchFamily="18" charset="0"/>
                        </a:rPr>
                        <a:t>1347</a:t>
                      </a:r>
                      <a:br>
                        <a:rPr lang="en-GB" sz="2400" b="0" i="0" dirty="0">
                          <a:effectLst/>
                          <a:latin typeface="Source Serif Pro" panose="02040603050405020204" pitchFamily="18" charset="0"/>
                          <a:ea typeface="Source Serif Pro" panose="02040603050405020204" pitchFamily="18" charset="0"/>
                        </a:rPr>
                      </a:br>
                      <a:endParaRPr lang="en-GB" sz="2400" b="0" i="0" dirty="0">
                        <a:effectLst/>
                        <a:latin typeface="Source Serif Pro" panose="02040603050405020204" pitchFamily="18" charset="0"/>
                        <a:ea typeface="Source Serif Pro" panose="02040603050405020204" pitchFamily="18" charset="0"/>
                      </a:endParaRPr>
                    </a:p>
                  </a:txBody>
                  <a:tcPr marL="42743" marR="42743" marT="28495" marB="284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6160619"/>
                  </a:ext>
                </a:extLst>
              </a:tr>
              <a:tr h="1664632"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buNone/>
                      </a:pPr>
                      <a:r>
                        <a:rPr lang="en-GB" sz="2400" b="0" i="0" dirty="0">
                          <a:effectLst/>
                          <a:latin typeface="Source Serif Pro" panose="02040603050405020204" pitchFamily="18" charset="0"/>
                          <a:ea typeface="Source Serif Pro" panose="02040603050405020204" pitchFamily="18" charset="0"/>
                        </a:rPr>
                        <a:t>After removing corrupted files</a:t>
                      </a:r>
                      <a:endParaRPr lang="en-GB" sz="2400" b="0" i="0" kern="1200" dirty="0">
                        <a:solidFill>
                          <a:schemeClr val="tx1"/>
                        </a:solidFill>
                        <a:effectLst/>
                        <a:latin typeface="Source Serif Pro" panose="02040603050405020204" pitchFamily="18" charset="0"/>
                        <a:ea typeface="Source Serif Pro" panose="02040603050405020204" pitchFamily="18" charset="0"/>
                        <a:cs typeface="+mn-cs"/>
                      </a:endParaRPr>
                    </a:p>
                  </a:txBody>
                  <a:tcPr marL="42743" marR="42743" marT="28495" marB="284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buNone/>
                      </a:pPr>
                      <a:r>
                        <a:rPr lang="en-GB" sz="2400" b="0" i="0" dirty="0">
                          <a:effectLst/>
                          <a:latin typeface="Source Serif Pro" panose="02040603050405020204" pitchFamily="18" charset="0"/>
                          <a:ea typeface="Source Serif Pro" panose="02040603050405020204" pitchFamily="18" charset="0"/>
                        </a:rPr>
                        <a:t>Valid text files only</a:t>
                      </a:r>
                      <a:endParaRPr lang="en-GB" sz="2400" b="0" i="0" kern="1200" dirty="0">
                        <a:solidFill>
                          <a:schemeClr val="tx1"/>
                        </a:solidFill>
                        <a:effectLst/>
                        <a:latin typeface="Source Serif Pro" panose="02040603050405020204" pitchFamily="18" charset="0"/>
                        <a:ea typeface="Source Serif Pro" panose="02040603050405020204" pitchFamily="18" charset="0"/>
                        <a:cs typeface="+mn-cs"/>
                      </a:endParaRPr>
                    </a:p>
                  </a:txBody>
                  <a:tcPr marL="42743" marR="42743" marT="28495" marB="284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GB" sz="2400" b="0" i="0" kern="1200" dirty="0">
                          <a:solidFill>
                            <a:schemeClr val="tx1"/>
                          </a:solidFill>
                          <a:effectLst/>
                          <a:latin typeface="Source Serif Pro" panose="02040603050405020204" pitchFamily="18" charset="0"/>
                          <a:ea typeface="Source Serif Pro" panose="02040603050405020204" pitchFamily="18" charset="0"/>
                          <a:cs typeface="+mn-cs"/>
                        </a:rPr>
                        <a:t>1347</a:t>
                      </a:r>
                    </a:p>
                  </a:txBody>
                  <a:tcPr marL="42743" marR="42743" marT="28495" marB="284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434107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839284" y="1608077"/>
            <a:ext cx="14617958" cy="7162800"/>
          </a:xfrm>
          <a:custGeom>
            <a:avLst/>
            <a:gdLst/>
            <a:ahLst/>
            <a:cxnLst/>
            <a:rect l="l" t="t" r="r" b="b"/>
            <a:pathLst>
              <a:path w="14203299" h="6959617">
                <a:moveTo>
                  <a:pt x="0" y="0"/>
                </a:moveTo>
                <a:lnTo>
                  <a:pt x="14203299" y="0"/>
                </a:lnTo>
                <a:lnTo>
                  <a:pt x="14203299" y="6959617"/>
                </a:lnTo>
                <a:lnTo>
                  <a:pt x="0" y="695961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SE"/>
          </a:p>
        </p:txBody>
      </p:sp>
      <p:sp>
        <p:nvSpPr>
          <p:cNvPr id="3" name="TextBox 3"/>
          <p:cNvSpPr txBox="1"/>
          <p:nvPr/>
        </p:nvSpPr>
        <p:spPr>
          <a:xfrm>
            <a:off x="1839284" y="266700"/>
            <a:ext cx="15699892" cy="10477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="1" dirty="0">
                <a:solidFill>
                  <a:srgbClr val="000000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Main RQ: How has the nature of environmental disclosure in industries evolved from</a:t>
            </a:r>
          </a:p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="1" dirty="0">
                <a:solidFill>
                  <a:srgbClr val="000000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2002 to 2016 in terms of language and reporting quality?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119161" y="9063212"/>
            <a:ext cx="15140139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75"/>
              </a:lnSpc>
              <a:spcBef>
                <a:spcPct val="0"/>
              </a:spcBef>
            </a:pPr>
            <a:r>
              <a:rPr lang="en-US" sz="2500" b="1">
                <a:solidFill>
                  <a:srgbClr val="000000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Observation: </a:t>
            </a:r>
            <a:r>
              <a:rPr lang="en-US" sz="2500">
                <a:solidFill>
                  <a:srgbClr val="000000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Environmental disclosure expands in breadth rather than depth, with more companies reporting but no increase in relative emphasis within reports.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002331" y="1685941"/>
            <a:ext cx="15066538" cy="7269605"/>
          </a:xfrm>
          <a:custGeom>
            <a:avLst/>
            <a:gdLst/>
            <a:ahLst/>
            <a:cxnLst/>
            <a:rect l="l" t="t" r="r" b="b"/>
            <a:pathLst>
              <a:path w="15066538" h="7269605">
                <a:moveTo>
                  <a:pt x="0" y="0"/>
                </a:moveTo>
                <a:lnTo>
                  <a:pt x="15066538" y="0"/>
                </a:lnTo>
                <a:lnTo>
                  <a:pt x="15066538" y="7269605"/>
                </a:lnTo>
                <a:lnTo>
                  <a:pt x="0" y="726960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SE"/>
          </a:p>
        </p:txBody>
      </p:sp>
      <p:sp>
        <p:nvSpPr>
          <p:cNvPr id="3" name="TextBox 3"/>
          <p:cNvSpPr txBox="1"/>
          <p:nvPr/>
        </p:nvSpPr>
        <p:spPr>
          <a:xfrm>
            <a:off x="2605646" y="9286875"/>
            <a:ext cx="13859908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75"/>
              </a:lnSpc>
              <a:spcBef>
                <a:spcPct val="0"/>
              </a:spcBef>
            </a:pPr>
            <a:r>
              <a:rPr lang="en-US" sz="2500" b="1" dirty="0">
                <a:solidFill>
                  <a:srgbClr val="000000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Observation</a:t>
            </a:r>
            <a:r>
              <a:rPr lang="en-US" sz="2500" dirty="0">
                <a:solidFill>
                  <a:srgbClr val="000000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: The data suggests a gradual shift toward more symbolic and less substantive language as CSR reporting became more widespread.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50977" y="571657"/>
            <a:ext cx="16586046" cy="8115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10"/>
              </a:lnSpc>
              <a:spcBef>
                <a:spcPct val="0"/>
              </a:spcBef>
            </a:pPr>
            <a:r>
              <a:rPr lang="en-US" sz="3000" b="1" dirty="0">
                <a:solidFill>
                  <a:srgbClr val="000000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Sub-Q 1: To what extent has the balance between symbolic and substantive disclosure shifted within these reports over time?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311467" y="1596436"/>
            <a:ext cx="12583819" cy="7094128"/>
          </a:xfrm>
          <a:custGeom>
            <a:avLst/>
            <a:gdLst/>
            <a:ahLst/>
            <a:cxnLst/>
            <a:rect l="l" t="t" r="r" b="b"/>
            <a:pathLst>
              <a:path w="12583819" h="7094128">
                <a:moveTo>
                  <a:pt x="0" y="0"/>
                </a:moveTo>
                <a:lnTo>
                  <a:pt x="12583820" y="0"/>
                </a:lnTo>
                <a:lnTo>
                  <a:pt x="12583820" y="7094128"/>
                </a:lnTo>
                <a:lnTo>
                  <a:pt x="0" y="709412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SE"/>
          </a:p>
        </p:txBody>
      </p:sp>
      <p:sp>
        <p:nvSpPr>
          <p:cNvPr id="3" name="TextBox 3"/>
          <p:cNvSpPr txBox="1"/>
          <p:nvPr/>
        </p:nvSpPr>
        <p:spPr>
          <a:xfrm>
            <a:off x="1295292" y="477719"/>
            <a:ext cx="16314939" cy="8115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10"/>
              </a:lnSpc>
              <a:spcBef>
                <a:spcPct val="0"/>
              </a:spcBef>
            </a:pPr>
            <a:r>
              <a:rPr lang="en-US" sz="3000" b="1">
                <a:solidFill>
                  <a:srgbClr val="000000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Sub-Q 2: Did the introduction of GRI G3 (2006) and GRI G4 (2013) frameworks act as a catalyst in shifting industries from symbolic to substantive reporting? 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3147861" y="9122721"/>
            <a:ext cx="12911031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75"/>
              </a:lnSpc>
              <a:spcBef>
                <a:spcPct val="0"/>
              </a:spcBef>
            </a:pPr>
            <a:r>
              <a:rPr lang="en-US" sz="2500" b="1">
                <a:solidFill>
                  <a:srgbClr val="000000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Observation</a:t>
            </a:r>
            <a:r>
              <a:rPr lang="en-US" sz="2500">
                <a:solidFill>
                  <a:srgbClr val="000000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: GRI frameworks increased reporting volume without significantly improving accountability.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2149535" y="5143500"/>
            <a:ext cx="6737158" cy="0"/>
          </a:xfrm>
          <a:prstGeom prst="line">
            <a:avLst/>
          </a:prstGeom>
          <a:ln w="19050" cap="flat">
            <a:solidFill>
              <a:srgbClr val="345C72">
                <a:alpha val="6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SE"/>
          </a:p>
        </p:txBody>
      </p:sp>
      <p:sp>
        <p:nvSpPr>
          <p:cNvPr id="3" name="Freeform 3"/>
          <p:cNvSpPr/>
          <p:nvPr/>
        </p:nvSpPr>
        <p:spPr>
          <a:xfrm rot="5400000">
            <a:off x="9450044" y="587810"/>
            <a:ext cx="11286889" cy="9190425"/>
          </a:xfrm>
          <a:custGeom>
            <a:avLst/>
            <a:gdLst/>
            <a:ahLst/>
            <a:cxnLst/>
            <a:rect l="l" t="t" r="r" b="b"/>
            <a:pathLst>
              <a:path w="11286889" h="9190425">
                <a:moveTo>
                  <a:pt x="0" y="0"/>
                </a:moveTo>
                <a:lnTo>
                  <a:pt x="11286889" y="0"/>
                </a:lnTo>
                <a:lnTo>
                  <a:pt x="11286889" y="9190425"/>
                </a:lnTo>
                <a:lnTo>
                  <a:pt x="0" y="91904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44299" b="-40032"/>
            </a:stretch>
          </a:blipFill>
        </p:spPr>
        <p:txBody>
          <a:bodyPr/>
          <a:lstStyle/>
          <a:p>
            <a:endParaRPr lang="en-SE"/>
          </a:p>
        </p:txBody>
      </p:sp>
      <p:sp>
        <p:nvSpPr>
          <p:cNvPr id="4" name="AutoShape 4"/>
          <p:cNvSpPr/>
          <p:nvPr/>
        </p:nvSpPr>
        <p:spPr>
          <a:xfrm flipV="1">
            <a:off x="12097598" y="5133975"/>
            <a:ext cx="4782381" cy="19050"/>
          </a:xfrm>
          <a:prstGeom prst="line">
            <a:avLst/>
          </a:prstGeom>
          <a:ln w="38100" cap="flat">
            <a:solidFill>
              <a:srgbClr val="345C72">
                <a:alpha val="6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SE"/>
          </a:p>
        </p:txBody>
      </p:sp>
      <p:grpSp>
        <p:nvGrpSpPr>
          <p:cNvPr id="5" name="Group 5"/>
          <p:cNvGrpSpPr/>
          <p:nvPr/>
        </p:nvGrpSpPr>
        <p:grpSpPr>
          <a:xfrm>
            <a:off x="1028700" y="1922143"/>
            <a:ext cx="156338" cy="182615"/>
            <a:chOff x="0" y="0"/>
            <a:chExt cx="41176" cy="4809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1176" cy="48096"/>
            </a:xfrm>
            <a:custGeom>
              <a:avLst/>
              <a:gdLst/>
              <a:ahLst/>
              <a:cxnLst/>
              <a:rect l="l" t="t" r="r" b="b"/>
              <a:pathLst>
                <a:path w="41176" h="48096">
                  <a:moveTo>
                    <a:pt x="0" y="0"/>
                  </a:moveTo>
                  <a:lnTo>
                    <a:pt x="41176" y="0"/>
                  </a:lnTo>
                  <a:lnTo>
                    <a:pt x="41176" y="48096"/>
                  </a:lnTo>
                  <a:lnTo>
                    <a:pt x="0" y="4809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SE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28575"/>
              <a:ext cx="41176" cy="195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40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074443" y="1785064"/>
            <a:ext cx="8649973" cy="2491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399" spc="-47">
                <a:solidFill>
                  <a:srgbClr val="2A2E30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     Envir</a:t>
            </a:r>
            <a:r>
              <a:rPr lang="en-US" sz="2399" u="none" strike="noStrike" spc="-47">
                <a:solidFill>
                  <a:srgbClr val="2A2E30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onmental reporting increased (2002–2016), however,       disclosures remain largely symbolic</a:t>
            </a:r>
          </a:p>
          <a:p>
            <a:pPr marL="0" lvl="0" indent="0" algn="just">
              <a:lnSpc>
                <a:spcPts val="3359"/>
              </a:lnSpc>
              <a:spcBef>
                <a:spcPct val="0"/>
              </a:spcBef>
            </a:pPr>
            <a:r>
              <a:rPr lang="en-US" sz="2399" u="none" strike="noStrike" spc="-47">
                <a:solidFill>
                  <a:srgbClr val="2A2E30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 </a:t>
            </a:r>
          </a:p>
          <a:p>
            <a:pPr marL="0" lvl="0" indent="0" algn="just">
              <a:lnSpc>
                <a:spcPts val="3359"/>
              </a:lnSpc>
              <a:spcBef>
                <a:spcPct val="0"/>
              </a:spcBef>
            </a:pPr>
            <a:r>
              <a:rPr lang="en-US" sz="2399" u="none" strike="noStrike" spc="-47">
                <a:solidFill>
                  <a:srgbClr val="2A2E30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     No clear shift toward measurable outcomes</a:t>
            </a:r>
          </a:p>
          <a:p>
            <a:pPr marL="0" lvl="0" indent="0" algn="just">
              <a:lnSpc>
                <a:spcPts val="3359"/>
              </a:lnSpc>
              <a:spcBef>
                <a:spcPct val="0"/>
              </a:spcBef>
            </a:pPr>
            <a:endParaRPr lang="en-US" sz="2399" u="none" strike="noStrike" spc="-47">
              <a:solidFill>
                <a:srgbClr val="2A2E30"/>
              </a:solidFill>
              <a:latin typeface="Source Serif Pro"/>
              <a:ea typeface="Source Serif Pro"/>
              <a:cs typeface="Source Serif Pro"/>
              <a:sym typeface="Source Serif Pro"/>
            </a:endParaRPr>
          </a:p>
          <a:p>
            <a:pPr marL="0" lvl="0" indent="0" algn="just">
              <a:lnSpc>
                <a:spcPts val="3359"/>
              </a:lnSpc>
              <a:spcBef>
                <a:spcPct val="0"/>
              </a:spcBef>
            </a:pPr>
            <a:r>
              <a:rPr lang="en-US" sz="2399" u="none" strike="noStrike" spc="-47">
                <a:solidFill>
                  <a:srgbClr val="2A2E30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     GRI frameworks improved structure, not accountability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532591" y="3400504"/>
            <a:ext cx="6755409" cy="472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600"/>
              </a:lnSpc>
              <a:spcBef>
                <a:spcPct val="0"/>
              </a:spcBef>
            </a:pPr>
            <a:r>
              <a:rPr lang="en-US" sz="3600">
                <a:solidFill>
                  <a:srgbClr val="000000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Conclusions and Limitations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1003697"/>
            <a:ext cx="3044064" cy="397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799" b="1">
                <a:solidFill>
                  <a:srgbClr val="000000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Conclusions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0" y="5651897"/>
            <a:ext cx="3044064" cy="397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799" b="1">
                <a:solidFill>
                  <a:srgbClr val="000000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Limitations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1028700" y="3141689"/>
            <a:ext cx="156338" cy="182615"/>
            <a:chOff x="0" y="0"/>
            <a:chExt cx="41176" cy="48096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41176" cy="48096"/>
            </a:xfrm>
            <a:custGeom>
              <a:avLst/>
              <a:gdLst/>
              <a:ahLst/>
              <a:cxnLst/>
              <a:rect l="l" t="t" r="r" b="b"/>
              <a:pathLst>
                <a:path w="41176" h="48096">
                  <a:moveTo>
                    <a:pt x="0" y="0"/>
                  </a:moveTo>
                  <a:lnTo>
                    <a:pt x="41176" y="0"/>
                  </a:lnTo>
                  <a:lnTo>
                    <a:pt x="41176" y="48096"/>
                  </a:lnTo>
                  <a:lnTo>
                    <a:pt x="0" y="4809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SE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28575"/>
              <a:ext cx="41176" cy="195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40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028700" y="3976899"/>
            <a:ext cx="156338" cy="182615"/>
            <a:chOff x="0" y="0"/>
            <a:chExt cx="41176" cy="48096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41176" cy="48096"/>
            </a:xfrm>
            <a:custGeom>
              <a:avLst/>
              <a:gdLst/>
              <a:ahLst/>
              <a:cxnLst/>
              <a:rect l="l" t="t" r="r" b="b"/>
              <a:pathLst>
                <a:path w="41176" h="48096">
                  <a:moveTo>
                    <a:pt x="0" y="0"/>
                  </a:moveTo>
                  <a:lnTo>
                    <a:pt x="41176" y="0"/>
                  </a:lnTo>
                  <a:lnTo>
                    <a:pt x="41176" y="48096"/>
                  </a:lnTo>
                  <a:lnTo>
                    <a:pt x="0" y="4809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SE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28575"/>
              <a:ext cx="41176" cy="195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40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411669" y="6716157"/>
            <a:ext cx="7655912" cy="23355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40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 Only English reports → potential regional bias</a:t>
            </a:r>
          </a:p>
          <a:p>
            <a:pPr algn="l">
              <a:lnSpc>
                <a:spcPts val="2640"/>
              </a:lnSpc>
              <a:spcBef>
                <a:spcPct val="0"/>
              </a:spcBef>
            </a:pPr>
            <a:endParaRPr lang="en-US" sz="2400">
              <a:solidFill>
                <a:srgbClr val="000000"/>
              </a:solidFill>
              <a:latin typeface="Source Serif Pro"/>
              <a:ea typeface="Source Serif Pro"/>
              <a:cs typeface="Source Serif Pro"/>
              <a:sym typeface="Source Serif Pro"/>
            </a:endParaRPr>
          </a:p>
          <a:p>
            <a:pPr algn="l">
              <a:lnSpc>
                <a:spcPts val="2640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Rule-based method → may miss context / negation</a:t>
            </a:r>
          </a:p>
          <a:p>
            <a:pPr algn="l">
              <a:lnSpc>
                <a:spcPts val="2640"/>
              </a:lnSpc>
              <a:spcBef>
                <a:spcPct val="0"/>
              </a:spcBef>
            </a:pPr>
            <a:endParaRPr lang="en-US" sz="2400">
              <a:solidFill>
                <a:srgbClr val="000000"/>
              </a:solidFill>
              <a:latin typeface="Source Serif Pro"/>
              <a:ea typeface="Source Serif Pro"/>
              <a:cs typeface="Source Serif Pro"/>
              <a:sym typeface="Source Serif Pro"/>
            </a:endParaRPr>
          </a:p>
          <a:p>
            <a:pPr algn="l">
              <a:lnSpc>
                <a:spcPts val="2640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Data quality issues (PDF conversion noise)</a:t>
            </a:r>
          </a:p>
          <a:p>
            <a:pPr algn="l">
              <a:lnSpc>
                <a:spcPts val="2640"/>
              </a:lnSpc>
              <a:spcBef>
                <a:spcPct val="0"/>
              </a:spcBef>
            </a:pPr>
            <a:endParaRPr lang="en-US" sz="2400">
              <a:solidFill>
                <a:srgbClr val="000000"/>
              </a:solidFill>
              <a:latin typeface="Source Serif Pro"/>
              <a:ea typeface="Source Serif Pro"/>
              <a:cs typeface="Source Serif Pro"/>
              <a:sym typeface="Source Serif Pro"/>
            </a:endParaRPr>
          </a:p>
          <a:p>
            <a:pPr algn="l">
              <a:lnSpc>
                <a:spcPts val="2640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Uneven dataset → early years less reliable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1074443" y="8759427"/>
            <a:ext cx="156338" cy="182615"/>
            <a:chOff x="0" y="0"/>
            <a:chExt cx="41176" cy="48096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41176" cy="48096"/>
            </a:xfrm>
            <a:custGeom>
              <a:avLst/>
              <a:gdLst/>
              <a:ahLst/>
              <a:cxnLst/>
              <a:rect l="l" t="t" r="r" b="b"/>
              <a:pathLst>
                <a:path w="41176" h="48096">
                  <a:moveTo>
                    <a:pt x="0" y="0"/>
                  </a:moveTo>
                  <a:lnTo>
                    <a:pt x="41176" y="0"/>
                  </a:lnTo>
                  <a:lnTo>
                    <a:pt x="41176" y="48096"/>
                  </a:lnTo>
                  <a:lnTo>
                    <a:pt x="0" y="4809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SE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28575"/>
              <a:ext cx="41176" cy="195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40"/>
                </a:lnSpc>
              </a:pPr>
              <a:endParaRPr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074443" y="8052937"/>
            <a:ext cx="156338" cy="182615"/>
            <a:chOff x="0" y="0"/>
            <a:chExt cx="41176" cy="48096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41176" cy="48096"/>
            </a:xfrm>
            <a:custGeom>
              <a:avLst/>
              <a:gdLst/>
              <a:ahLst/>
              <a:cxnLst/>
              <a:rect l="l" t="t" r="r" b="b"/>
              <a:pathLst>
                <a:path w="41176" h="48096">
                  <a:moveTo>
                    <a:pt x="0" y="0"/>
                  </a:moveTo>
                  <a:lnTo>
                    <a:pt x="41176" y="0"/>
                  </a:lnTo>
                  <a:lnTo>
                    <a:pt x="41176" y="48096"/>
                  </a:lnTo>
                  <a:lnTo>
                    <a:pt x="0" y="4809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SE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28575"/>
              <a:ext cx="41176" cy="195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40"/>
                </a:lnSpc>
              </a:pPr>
              <a:endParaRPr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074443" y="7441697"/>
            <a:ext cx="156338" cy="182615"/>
            <a:chOff x="0" y="0"/>
            <a:chExt cx="41176" cy="48096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41176" cy="48096"/>
            </a:xfrm>
            <a:custGeom>
              <a:avLst/>
              <a:gdLst/>
              <a:ahLst/>
              <a:cxnLst/>
              <a:rect l="l" t="t" r="r" b="b"/>
              <a:pathLst>
                <a:path w="41176" h="48096">
                  <a:moveTo>
                    <a:pt x="0" y="0"/>
                  </a:moveTo>
                  <a:lnTo>
                    <a:pt x="41176" y="0"/>
                  </a:lnTo>
                  <a:lnTo>
                    <a:pt x="41176" y="48096"/>
                  </a:lnTo>
                  <a:lnTo>
                    <a:pt x="0" y="4809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SE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28575"/>
              <a:ext cx="41176" cy="195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40"/>
                </a:lnSpc>
              </a:pPr>
              <a:endParaRPr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074443" y="6735207"/>
            <a:ext cx="156338" cy="182615"/>
            <a:chOff x="0" y="0"/>
            <a:chExt cx="41176" cy="48096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41176" cy="48096"/>
            </a:xfrm>
            <a:custGeom>
              <a:avLst/>
              <a:gdLst/>
              <a:ahLst/>
              <a:cxnLst/>
              <a:rect l="l" t="t" r="r" b="b"/>
              <a:pathLst>
                <a:path w="41176" h="48096">
                  <a:moveTo>
                    <a:pt x="0" y="0"/>
                  </a:moveTo>
                  <a:lnTo>
                    <a:pt x="41176" y="0"/>
                  </a:lnTo>
                  <a:lnTo>
                    <a:pt x="41176" y="48096"/>
                  </a:lnTo>
                  <a:lnTo>
                    <a:pt x="0" y="4809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SE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28575"/>
              <a:ext cx="41176" cy="195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40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747997" y="2266333"/>
            <a:ext cx="10792006" cy="10683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123"/>
              </a:lnSpc>
            </a:pPr>
            <a:r>
              <a:rPr lang="en-US" sz="7591">
                <a:solidFill>
                  <a:srgbClr val="000000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Thank you!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828904" y="4275794"/>
            <a:ext cx="4630192" cy="1047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025"/>
              </a:lnSpc>
              <a:spcBef>
                <a:spcPct val="0"/>
              </a:spcBef>
            </a:pPr>
            <a:r>
              <a:rPr lang="en-US" sz="7500">
                <a:solidFill>
                  <a:srgbClr val="000000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635</Words>
  <Application>Microsoft Macintosh PowerPoint</Application>
  <PresentationFormat>Custom</PresentationFormat>
  <Paragraphs>87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Source Serif Pro</vt:lpstr>
      <vt:lpstr>Source Serif Pro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Course: Data Analysis and Visualisation Date: 24.03.2026 Group 10: Aikaterini Toumpa, Al Amin Alif, Charitha Wickramasinghe, Tharindu Senanayake Instructor: Asif Huq</dc:title>
  <cp:lastModifiedBy>Tharindu Eranga Senanayake Senanayake Ralalage (Student)</cp:lastModifiedBy>
  <cp:revision>5</cp:revision>
  <dcterms:created xsi:type="dcterms:W3CDTF">2006-08-16T00:00:00Z</dcterms:created>
  <dcterms:modified xsi:type="dcterms:W3CDTF">2026-03-23T23:15:12Z</dcterms:modified>
  <dc:identifier>DAHEefhkaUo</dc:identifier>
</cp:coreProperties>
</file>